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8512ed3814d40" /><Relationship Type="http://schemas.openxmlformats.org/officeDocument/2006/relationships/extended-properties" Target="/docProps/app.xml" Id="R1045f185b7504aa1" /><Relationship Type="http://schemas.openxmlformats.org/officeDocument/2006/relationships/officeDocument" Target="/ppt/presentation.xml" Id="Rcda4cd691b4341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e8b7c00cb499e"/>
  </p:sldMasterIdLst>
  <p:notesMasterIdLst>
    <p:notesMasterId xmlns:r="http://schemas.openxmlformats.org/officeDocument/2006/relationships" r:id="Rc5e70edfe68742bd"/>
  </p:notesMasterIdLst>
  <p:sldIdLst>
    <p:sldId xmlns:r="http://schemas.openxmlformats.org/officeDocument/2006/relationships" id="256" r:id="Rb8ed21e4920e441c"/>
    <p:sldId xmlns:r="http://schemas.openxmlformats.org/officeDocument/2006/relationships" id="257" r:id="Rcb082e52c40049e9"/>
    <p:sldId xmlns:r="http://schemas.openxmlformats.org/officeDocument/2006/relationships" id="258" r:id="R025c49092a39412d"/>
    <p:sldId xmlns:r="http://schemas.openxmlformats.org/officeDocument/2006/relationships" id="259" r:id="Re478fce2c7ab4e9b"/>
    <p:sldId xmlns:r="http://schemas.openxmlformats.org/officeDocument/2006/relationships" id="260" r:id="R35f1bfae2f504db5"/>
    <p:sldId xmlns:r="http://schemas.openxmlformats.org/officeDocument/2006/relationships" id="261" r:id="R34644fa8833840c6"/>
    <p:sldId xmlns:r="http://schemas.openxmlformats.org/officeDocument/2006/relationships" id="262" r:id="R4b8f18461d7e43b2"/>
    <p:sldId xmlns:r="http://schemas.openxmlformats.org/officeDocument/2006/relationships" id="263" r:id="Ra1caf9bfe1b64bd9"/>
    <p:sldId xmlns:r="http://schemas.openxmlformats.org/officeDocument/2006/relationships" id="264" r:id="Rd3849cd0b1d4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e948077a246e9" /><Relationship Type="http://schemas.openxmlformats.org/officeDocument/2006/relationships/slideMaster" Target="/ppt/slideMasters/slideMaster1.xml" Id="R494e8b7c00cb499e" /><Relationship Type="http://schemas.openxmlformats.org/officeDocument/2006/relationships/notesMaster" Target="/ppt/notesMasters/notesMaster1.xml" Id="Rc5e70edfe68742bd" /><Relationship Type="http://schemas.openxmlformats.org/officeDocument/2006/relationships/presProps" Target="/ppt/presProps.xml" Id="R241e052239a245ef" /><Relationship Type="http://schemas.openxmlformats.org/officeDocument/2006/relationships/tableStyles" Target="/ppt/tableStyles.xml" Id="R65e0a1c660094a36" /><Relationship Type="http://schemas.openxmlformats.org/officeDocument/2006/relationships/slide" Target="/ppt/slides/slide1.xml" Id="Rb8ed21e4920e441c" /><Relationship Type="http://schemas.openxmlformats.org/officeDocument/2006/relationships/slide" Target="/ppt/slides/slide2.xml" Id="Rcb082e52c40049e9" /><Relationship Type="http://schemas.openxmlformats.org/officeDocument/2006/relationships/slide" Target="/ppt/slides/slide3.xml" Id="R025c49092a39412d" /><Relationship Type="http://schemas.openxmlformats.org/officeDocument/2006/relationships/slide" Target="/ppt/slides/slide4.xml" Id="Re478fce2c7ab4e9b" /><Relationship Type="http://schemas.openxmlformats.org/officeDocument/2006/relationships/slide" Target="/ppt/slides/slide5.xml" Id="R35f1bfae2f504db5" /><Relationship Type="http://schemas.openxmlformats.org/officeDocument/2006/relationships/slide" Target="/ppt/slides/slide6.xml" Id="R34644fa8833840c6" /><Relationship Type="http://schemas.openxmlformats.org/officeDocument/2006/relationships/slide" Target="/ppt/slides/slide7.xml" Id="R4b8f18461d7e43b2" /><Relationship Type="http://schemas.openxmlformats.org/officeDocument/2006/relationships/slide" Target="/ppt/slides/slide8.xml" Id="Ra1caf9bfe1b64bd9" /><Relationship Type="http://schemas.openxmlformats.org/officeDocument/2006/relationships/slide" Target="/ppt/slides/slide9.xml" Id="Rd3849cd0b1d4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59d457de82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83721540148ef" /><Relationship Type="http://schemas.openxmlformats.org/officeDocument/2006/relationships/notesMaster" Target="/ppt/notesMasters/notesMaster1.xml" Id="R1a15bb3ce5f34f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1acec440a4712" /><Relationship Type="http://schemas.openxmlformats.org/officeDocument/2006/relationships/notesMaster" Target="/ppt/notesMasters/notesMaster1.xml" Id="Rd10c5ca1243b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fb72e110549de" /><Relationship Type="http://schemas.openxmlformats.org/officeDocument/2006/relationships/notesMaster" Target="/ppt/notesMasters/notesMaster1.xml" Id="Rd75e99c2505e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42f51aae23494c" /><Relationship Type="http://schemas.openxmlformats.org/officeDocument/2006/relationships/notesMaster" Target="/ppt/notesMasters/notesMaster1.xml" Id="Re576e45cdc9a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e078caa9b548fa" /><Relationship Type="http://schemas.openxmlformats.org/officeDocument/2006/relationships/notesMaster" Target="/ppt/notesMasters/notesMaster1.xml" Id="R68e09f67ee0846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aca307421f41e0" /><Relationship Type="http://schemas.openxmlformats.org/officeDocument/2006/relationships/notesMaster" Target="/ppt/notesMasters/notesMaster1.xml" Id="R6c34eb78df4e48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0e8e62732a4078" /><Relationship Type="http://schemas.openxmlformats.org/officeDocument/2006/relationships/notesMaster" Target="/ppt/notesMasters/notesMaster1.xml" Id="R64e98c6dad634c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5046a7c9394a50" /><Relationship Type="http://schemas.openxmlformats.org/officeDocument/2006/relationships/notesMaster" Target="/ppt/notesMasters/notesMaster1.xml" Id="R253355a618944a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f3c59cad48405b" /><Relationship Type="http://schemas.openxmlformats.org/officeDocument/2006/relationships/notesMaster" Target="/ppt/notesMasters/notesMaster1.xml" Id="R0508d14ac1b0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f5b2e70524f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a8f30913e4d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0d4dd485446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f0019efcf48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db33aecb44f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6255281ff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3B8042-F1EB-41BE-939B-0FB2134503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900AEB-DC27-4200-99B4-18B405983D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A4EB63-CE14-4A6F-91A5-91C05BF9B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59E98D-22EE-4FB1-863F-3CE6F35C7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D7B9B6-AC85-4517-A1CA-B286D2241E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C1E3CB-9456-43AB-B009-BCDF93C2C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A703CB-AE2E-45ED-9DA4-8AF2B7BFC4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8EF9C2-3F97-4E23-B74B-11E44F604A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C5AD95-18BB-4632-9DB8-ECA67716F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FC245F-4816-4839-9C25-E864FF7BF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a56b03a264118" /><Relationship Type="http://schemas.openxmlformats.org/officeDocument/2006/relationships/slideLayout" Target="/ppt/slideLayouts/slideLayout1.xml" Id="Rfbb2a566106a4e04" /><Relationship Type="http://schemas.openxmlformats.org/officeDocument/2006/relationships/slideLayout" Target="/ppt/slideLayouts/slideLayout2.xml" Id="Rb3113c96efee4686" /><Relationship Type="http://schemas.openxmlformats.org/officeDocument/2006/relationships/slideLayout" Target="/ppt/slideLayouts/slideLayout3.xml" Id="R7af0437452e5421d" /><Relationship Type="http://schemas.openxmlformats.org/officeDocument/2006/relationships/slideLayout" Target="/ppt/slideLayouts/slideLayout4.xml" Id="R42396e0faa7d4b46" /><Relationship Type="http://schemas.openxmlformats.org/officeDocument/2006/relationships/slideLayout" Target="/ppt/slideLayouts/slideLayout5.xml" Id="R916950880d7543be" /><Relationship Type="http://schemas.openxmlformats.org/officeDocument/2006/relationships/slideLayout" Target="/ppt/slideLayouts/slideLayout6.xml" Id="Rf2b98b5cd796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b2a566106a4e04"/>
    <p:sldLayoutId xmlns:r="http://schemas.openxmlformats.org/officeDocument/2006/relationships" id="2147483650" r:id="Rb3113c96efee4686"/>
    <p:sldLayoutId xmlns:r="http://schemas.openxmlformats.org/officeDocument/2006/relationships" id="2147483651" r:id="R7af0437452e5421d"/>
    <p:sldLayoutId xmlns:r="http://schemas.openxmlformats.org/officeDocument/2006/relationships" id="2147483652" r:id="R42396e0faa7d4b46"/>
    <p:sldLayoutId xmlns:r="http://schemas.openxmlformats.org/officeDocument/2006/relationships" id="2147483653" r:id="R916950880d7543be"/>
    <p:sldLayoutId xmlns:r="http://schemas.openxmlformats.org/officeDocument/2006/relationships" id="2147483654" r:id="Rf2b98b5cd796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9e5648fe80440f" /><Relationship Type="http://schemas.openxmlformats.org/officeDocument/2006/relationships/notesSlide" Target="/ppt/notesSlides/notesSlide1.xml" Id="Recabbbce695148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adfb174fd426d" /><Relationship Type="http://schemas.openxmlformats.org/officeDocument/2006/relationships/notesSlide" Target="/ppt/notesSlides/notesSlide2.xml" Id="R55ab48f37c5e41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edf99d05e472e" /><Relationship Type="http://schemas.openxmlformats.org/officeDocument/2006/relationships/notesSlide" Target="/ppt/notesSlides/notesSlide3.xml" Id="R5cb5c9d5b1de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d92ab3efc4535" /><Relationship Type="http://schemas.openxmlformats.org/officeDocument/2006/relationships/notesSlide" Target="/ppt/notesSlides/notesSlide4.xml" Id="R0c3eb0c42e7c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4bb22764f4807" /><Relationship Type="http://schemas.openxmlformats.org/officeDocument/2006/relationships/notesSlide" Target="/ppt/notesSlides/notesSlide5.xml" Id="Raf1a5c40c010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cdf9acfa64dd1" /><Relationship Type="http://schemas.openxmlformats.org/officeDocument/2006/relationships/chart" Target="/ppt/slides/charts/chart1.xml" Id="R97cd4f1a76d6427f" /><Relationship Type="http://schemas.openxmlformats.org/officeDocument/2006/relationships/notesSlide" Target="/ppt/notesSlides/notesSlide6.xml" Id="R0372e67d5b67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a0999d516441b" /><Relationship Type="http://schemas.openxmlformats.org/officeDocument/2006/relationships/notesSlide" Target="/ppt/notesSlides/notesSlide7.xml" Id="R1214f2f6abf94f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2b595fb1f4e31" /><Relationship Type="http://schemas.openxmlformats.org/officeDocument/2006/relationships/notesSlide" Target="/ppt/notesSlides/notesSlide8.xml" Id="R1a26b965172f46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60dd27ada48ac" /><Relationship Type="http://schemas.openxmlformats.org/officeDocument/2006/relationships/notesSlide" Target="/ppt/notesSlides/notesSlide9.xml" Id="Ra84735afa6f34d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Logistic ROC AUC</c:v>
          </c:tx>
          <c:spPr>
            <a:solidFill xmlns:a="http://schemas.openxmlformats.org/drawingml/2006/main">
              <a:srgbClr val="0B8E69"/>
            </a:solidFill>
          </c:spPr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0.701</c:v>
                </c:pt>
                <c:pt idx="1">
                  <c:v>0.757</c:v>
                </c:pt>
              </c:numCache>
            </c:numRef>
          </c:val>
        </c:ser>
        <c:ser>
          <c:idx val="1"/>
          <c:order val="1"/>
          <c:tx>
            <c:v>Logistic F1</c:v>
          </c:tx>
          <c:spPr>
            <a:solidFill xmlns:a="http://schemas.openxmlformats.org/drawingml/2006/main">
              <a:srgbClr val="F1B868"/>
            </a:solidFill>
          </c:spPr>
          <c:cat>
            <c:strRef>
              <c:f>'Chart Data'!$C$2:$C$3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0.779</c:v>
                </c:pt>
                <c:pt idx="1">
                  <c:v>0.742</c:v>
                </c:pt>
              </c:numCache>
            </c:numRef>
          </c:val>
        </c:ser>
        <c:ser>
          <c:idx val="2"/>
          <c:order val="2"/>
          <c:tx>
            <c:v>Dummy F1</c:v>
          </c:tx>
          <c:spPr>
            <a:solidFill xmlns:a="http://schemas.openxmlformats.org/drawingml/2006/main">
              <a:srgbClr val="E87868"/>
            </a:solidFill>
          </c:spPr>
          <c:cat>
            <c:strRef>
              <c:f>'Chart Data'!$E$2:$E$3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0.824</c:v>
                </c:pt>
                <c:pt idx="1">
                  <c:v>0.757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DCCBA-804B-4690-9578-8B62488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6D7B2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6D7B2"/>
                </a:solidFill>
              </a:defRPr>
            </a:pPr>
            <a:r>
              <a:rPr sz="1050" b="1">
                <a:solidFill>
                  <a:srgbClr val="66D7B2"/>
                </a:solidFill>
              </a:rPr>
              <a:t>HAPPYHEALTH CHALLENGE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AE2B-CBAC-4CB6-9AF7-E12158B6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Virtual Patient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58B4E-6FA1-48C1-B3DF-4829092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CBFB7-62BB-4AF1-A921-35462AF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C5D9D3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C5D9D3"/>
                </a:solidFill>
              </a:defRPr>
            </a:pPr>
            <a:r>
              <a:rPr sz="1725" b="0">
                <a:solidFill>
                  <a:srgbClr val="C5D9D3"/>
                </a:solidFill>
              </a:rPr>
              <a:t>Synthetic EHR and simulated CGM combined to forecast a post-meal glucose spike two hours in advance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9452D-C1C9-4CBC-8089-168D9D5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8BA79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BA79F"/>
                </a:solidFill>
              </a:defRPr>
            </a:pPr>
            <a:r>
              <a:rPr sz="1125" b="0">
                <a:solidFill>
                  <a:srgbClr val="8BA79F"/>
                </a:solidFill>
              </a:rPr>
              <a:t>Research prototype - No real patient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6F7C2-444D-49F0-8942-2855223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38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400" b="1">
                <a:solidFill>
                  <a:srgbClr val="F1B868"/>
                </a:solidFill>
              </a:defRPr>
            </a:defPPr>
          </a:lstStyle>
          <a:p xmlns:a="http://schemas.openxmlformats.org/drawingml/2006/main">
            <a:pPr algn="ctr">
              <a:defRPr sz="5400" b="1">
                <a:solidFill>
                  <a:srgbClr val="F1B868"/>
                </a:solidFill>
              </a:defRPr>
            </a:pPr>
            <a:r>
              <a:rPr sz="5400" b="1">
                <a:solidFill>
                  <a:srgbClr val="F1B868"/>
                </a:solidFill>
              </a:rPr>
              <a:t>0.36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E4334-5BAD-4698-994C-706AACE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demo model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9607F-A46E-4A20-8F55-9159FF64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A8C0B8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A8C0B8"/>
                </a:solidFill>
              </a:defRPr>
            </a:pPr>
            <a:r>
              <a:rPr sz="1200" b="0">
                <a:solidFill>
                  <a:srgbClr val="A8C0B8"/>
                </a:solidFill>
              </a:rPr>
              <a:t>Calculated by the trained model from the canonical synthetic patient</a:t>
            </a:r>
          </a:p>
        </p:txBody>
      </p:sp>
    </p:spTree>
    <p:extLst>
      <p:ext uri="{BB962C8B-B14F-4D97-AF65-F5344CB8AC3E}">
        <p14:creationId xmlns:p14="http://schemas.microsoft.com/office/powerpoint/2010/main" val="1130291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B77BC-D154-4E5F-8B67-0C482C6D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The clinical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E04B1-D0E8-4070-8ABA-AE51F1A9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26D1-9D90-42F2-91F1-EC7877EF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553C1-C349-4322-ABDA-5420BDBA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B2821"/>
                </a:solidFill>
              </a:defRPr>
            </a:pPr>
            <a:r>
              <a:rPr sz="2850" b="1">
                <a:solidFill>
                  <a:srgbClr val="0B2821"/>
                </a:solidFill>
              </a:rPr>
              <a:t>A health record explains the person.</a:t>
            </a:r>
          </a:p>
          <a:p xmlns:a="http://schemas.openxmlformats.org/drawingml/2006/main">
            <a:pPr algn="l">
              <a:defRPr sz="2850" b="1">
                <a:solidFill>
                  <a:srgbClr val="0B2821"/>
                </a:solidFill>
              </a:defRPr>
            </a:pPr>
            <a:r>
              <a:rPr sz="2850" b="1">
                <a:solidFill>
                  <a:srgbClr val="0B2821"/>
                </a:solidFill>
              </a:rPr>
              <a:t>A wearable explains the moment.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9D1D3-E22D-4624-AC0E-1690208A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A useful virtual patient needs both. Static context changes slowly, while glucose can change within minutes after a meal.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F1253-BBF0-414E-9C37-91B86DC3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B8C28-5A39-419E-94D7-878DEC94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STATIC / HISTORICAL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E6FA-5C95-4B8D-BB28-6FF6960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19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Age, sex, BMI, diabetes duration, HbA1c, fasting glucose, diagnoses and medication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6398F-E5F8-446F-92C4-9B3F4114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DYNAMIC / ACCELERATED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FEBFF-9DAC-4D9F-B75F-09631AD7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CGM observations arrive every 15 virtual minutes through the simulated wearable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8C29F-C2D8-4F68-8450-3F715E31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07A72"/>
                </a:solidFill>
              </a:defRPr>
            </a:pPr>
            <a:r>
              <a:rPr sz="1050" b="0">
                <a:solidFill>
                  <a:srgbClr val="607A72"/>
                </a:solidFill>
              </a:rPr>
              <a:t>Prototype focus: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1588163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CCE4B-C880-41D2-85FE-7FECAB1C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Two-hour glucose event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BD1E0-CF45-42FC-B2D6-9D4D0899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18DE-6F46-4B67-B2AE-4137B00A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B1DCA-AD17-476C-8F46-A316963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0B8E69"/>
                </a:solidFill>
              </a:defRPr>
            </a:pPr>
            <a:r>
              <a:rPr sz="6600" b="1">
                <a:solidFill>
                  <a:srgbClr val="0B8E69"/>
                </a:solidFill>
              </a:rPr>
              <a:t>120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07726-2F12-41E4-ABEC-66767D1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minutes ahead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3B602-6A2A-49F6-9D14-75C2364C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607A72"/>
                </a:solidFill>
              </a:defRPr>
            </a:pPr>
            <a:r>
              <a:rPr sz="1200" b="1">
                <a:solidFill>
                  <a:srgbClr val="607A72"/>
                </a:solidFill>
              </a:rPr>
              <a:t>Adverse event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AE3F9-1D95-444E-B47C-A38B7A13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Within 120 minutes, glucose reaches at least 180 mg/dL or rises by at least 40 mg/dL from the meal-time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AF03B-46E4-43C8-B19E-C3DB8A1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D33D8-CDF0-426C-A79D-373E553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1ADFD-F969-43D3-8C41-0783904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299D4-6A1C-47F2-8BE0-44886FC4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Read the synthetic patient record and recent CGM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91393-D771-40D6-81F4-5946A91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3FD16-2596-4436-B745-869516D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67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Forecast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37C9E-C8B6-4212-8CB0-050D450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Return an uncalibrated model score and model factors.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3041C-7A8D-4AAB-A0B1-49B6EDE8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B8E69"/>
                </a:solidFill>
              </a:defRPr>
            </a:pPr>
            <a:r>
              <a:rPr sz="1125" b="1">
                <a:solidFill>
                  <a:srgbClr val="0B8E6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67813-65E8-46E7-95AE-535143A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B2821"/>
                </a:solidFill>
              </a:defRPr>
            </a:pPr>
            <a:r>
              <a:rPr sz="1875" b="1">
                <a:solidFill>
                  <a:srgbClr val="0B2821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B90FA-7451-44A2-B506-914D47FB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42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Let the doctor inspect the timeline and refresh the estimate.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F4B58-54A2-46A2-82B1-51E834AA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57875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87868"/>
                </a:solidFill>
              </a:defRPr>
            </a:pPr>
            <a:r>
              <a:rPr sz="1125" b="1">
                <a:solidFill>
                  <a:srgbClr val="E87868"/>
                </a:solidFill>
              </a:rPr>
              <a:t>A research estimate supports discussion. It does not prescribe treatment.</a:t>
            </a:r>
          </a:p>
        </p:txBody>
      </p:sp>
    </p:spTree>
    <p:extLst>
      <p:ext uri="{BB962C8B-B14F-4D97-AF65-F5344CB8AC3E}">
        <p14:creationId xmlns:p14="http://schemas.microsoft.com/office/powerpoint/2010/main" val="676369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196AF-1625-4574-8489-81BBB88118C6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239000" y="2928938"/>
            <a:ext cx="2714625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7B684-B265-4DEA-993E-BA532EEE25EA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191250" y="361950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9FF89-91D4-4381-8BAD-459AF02E956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33FED-0027-4A37-ACDE-554394E9E1DE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239000" y="2214563"/>
            <a:ext cx="57150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5349E-02F3-4E11-AD26-5D6C1CDA0D9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714875" y="2928938"/>
            <a:ext cx="428625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F0A11-503E-4BF8-AD8E-FD4FCF454AB8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571750" y="39052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49D43-5069-4FA5-B5C9-93E122B7E1E8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571750" y="1905000"/>
            <a:ext cx="2571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8E69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8C431-7213-44FD-8335-C62A819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Static and dynamic data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C9008-B590-47ED-BA30-7BC135F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D7A5A-28E6-4BD8-A6E8-D3ACE5CD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F139F-8C9C-40AE-89D8-A44BDEC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Synthetic EHR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JSON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B8809-B527-4418-972E-F7A66B80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1D9"/>
          </a:solidFill>
          <a:ln xmlns:a="http://schemas.openxmlformats.org/drawingml/2006/main" w="11430">
            <a:solidFill>
              <a:srgbClr val="F1B86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Simulated CGM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Python publisher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1D8C3-231D-4040-A110-BFF50616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MQTT broker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A337-55BB-4942-9705-F4662E1C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71816"/>
          </a:solidFill>
          <a:ln xmlns:a="http://schemas.openxmlformats.org/drawingml/2006/main" w="11430">
            <a:solidFill>
              <a:srgbClr val="07181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Spring Boot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Digital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87B2E-1537-438A-A5C0-A423731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43375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H2 state</a:t>
            </a:r>
          </a:p>
          <a:p xmlns:a="http://schemas.openxmlformats.org/drawingml/2006/main">
            <a:pPr algn="ctr">
              <a:defRPr sz="1275" b="1">
                <a:solidFill>
                  <a:srgbClr val="0B2821"/>
                </a:solidFill>
              </a:defRPr>
            </a:pPr>
            <a:r>
              <a:rPr sz="1275" b="1">
                <a:solidFill>
                  <a:srgbClr val="0B2821"/>
                </a:solidFill>
              </a:rPr>
              <a:t>profile +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8EA6A-8476-4808-9B70-9A2A8786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1952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43-feature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0B5BB-AA13-4107-8AD3-F1FD367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38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8E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React dashboard</a:t>
            </a:r>
          </a:p>
          <a:p xmlns:a="http://schemas.openxmlformats.org/drawingml/2006/main">
            <a:pPr algn="ctr">
              <a:defRPr sz="1425" b="1">
                <a:solidFill>
                  <a:srgbClr val="0B2821"/>
                </a:solidFill>
              </a:defRPr>
            </a:pPr>
            <a:r>
              <a:rPr sz="1425" b="1">
                <a:solidFill>
                  <a:srgbClr val="0B2821"/>
                </a:solidFill>
              </a:rPr>
              <a:t>Doctor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C59B9-300D-468A-97C9-832E4BB9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browser calls Spring Boot only. The model service and MQTT broker stay behind the application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648895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FC3BD-C128-487F-9965-6328331D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Model inputs and prediction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0948-F52B-40D4-B115-99FA059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4E384-5044-4C44-98AC-5C5B950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13A00-D70C-4020-B028-ECF36D7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0B8E69"/>
                </a:solidFill>
              </a:defRPr>
            </a:pPr>
            <a:r>
              <a:rPr sz="6150" b="1">
                <a:solidFill>
                  <a:srgbClr val="0B8E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3C78B-A537-42D9-B5E7-6F66B5C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2821"/>
                </a:solidFill>
              </a:defRPr>
            </a:pPr>
            <a:r>
              <a:rPr sz="1650" b="1">
                <a:solidFill>
                  <a:srgbClr val="0B2821"/>
                </a:solidFill>
              </a:rPr>
              <a:t>numeric input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D87F3-CFBA-4312-8545-51B9488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Recent glucose lags and changes carry the short-term signal. Static patient values add clinical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FCCA4-601C-4E59-B026-FCD865A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8E69"/>
                </a:solidFill>
              </a:defRPr>
            </a:pPr>
            <a:r>
              <a:rPr sz="1500" b="1">
                <a:solidFill>
                  <a:srgbClr val="0B8E69"/>
                </a:solidFill>
              </a:rPr>
              <a:t>CGM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9D19B-0282-48DC-A80B-B5130109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Current value, 15/30/60/120-minute lags, variation and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59018-382D-4DED-BF4F-6A032F3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F6D14-A8B9-41F6-B02D-EC2B6053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479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Meal +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B00F9-0959-4090-89F8-ACBF62A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479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Meal text signals, time of day and minutes since the previous meal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28F37-627D-4895-94D9-D0B2D0F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8A049-8B7D-43ED-B642-96D3D472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147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Patient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652A3-7A72-410E-B8BA-B54C6ABB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147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Age, sex, BMI, diabetes duration, HbA1c and fasting glucose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02105-84A7-42E0-995D-EBEC1F4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633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8774F-6EC4-449F-ACA9-26B5C47F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2821"/>
                </a:solidFill>
              </a:defRPr>
            </a:pPr>
            <a:r>
              <a:rPr sz="1500" b="1">
                <a:solidFill>
                  <a:srgbClr val="0B2821"/>
                </a:solidFill>
              </a:rPr>
              <a:t>Medication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D8C33-5C43-4C00-8FBA-D11C2417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815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07A72"/>
                </a:solidFill>
              </a:defRPr>
            </a:pPr>
            <a:r>
              <a:rPr sz="1275" b="0">
                <a:solidFill>
                  <a:srgbClr val="607A72"/>
                </a:solidFill>
              </a:rPr>
              <a:t>Recorded insulin and non-insulin medication event flags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202AE-D86D-451E-B319-45BCD93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483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Pipeline: median imputation - missingness indicators - standard scaling -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058196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B69A6-3E69-4448-A73E-2B0B53FB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Patient-level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0381A-0C13-4FE1-8911-E3A86266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197C4-9927-4ED6-A5D3-ED1AD2C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8B98E-E92D-4E78-B8D1-92ED233C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07A72"/>
                </a:solidFill>
              </a:defRPr>
            </a:pPr>
            <a:r>
              <a:rPr sz="1500" b="0">
                <a:solidFill>
                  <a:srgbClr val="607A72"/>
                </a:solidFill>
              </a:rPr>
              <a:t>Each patient belongs to one split only, which reduces leakage between training and evaluation.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B8BB3DF-00A7-49D0-A688-56B258D53054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cd4f1a76d642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872B1-2F89-4B88-8560-7FA0B9BA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0500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8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4800" b="1">
                <a:solidFill>
                  <a:srgbClr val="0B8E69"/>
                </a:solidFill>
              </a:defRPr>
            </a:pPr>
            <a:r>
              <a:rPr sz="4800" b="1">
                <a:solidFill>
                  <a:srgbClr val="0B8E69"/>
                </a:solidFill>
              </a:rPr>
              <a:t>0.757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F595-7332-478E-BD41-DDB5770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81300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2821"/>
                </a:solidFill>
              </a:defRPr>
            </a:pPr>
            <a:r>
              <a:rPr sz="1350" b="1">
                <a:solidFill>
                  <a:srgbClr val="0B2821"/>
                </a:solidFill>
              </a:rPr>
              <a:t>test ROC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41470-B3A3-450F-81CE-8879854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97B03-88BD-4BD7-B848-881CB87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62375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07A72"/>
                </a:solidFill>
              </a:defRPr>
            </a:pPr>
            <a:r>
              <a:rPr sz="1350" b="0">
                <a:solidFill>
                  <a:srgbClr val="607A72"/>
                </a:solidFill>
              </a:rPr>
              <a:t>Test F1 is 0.742 versus 0.757 for an always-positive dummy. ROC AUC shows ranking signal, but the result does not establish calibration, clinical safety or patient benefit.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5F17B-FF03-4EC0-9FEF-DCA7F31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07A72"/>
                </a:solidFill>
              </a:defRPr>
            </a:pPr>
            <a:r>
              <a:rPr sz="900" b="0">
                <a:solidFill>
                  <a:srgbClr val="607A72"/>
                </a:solidFill>
              </a:rPr>
              <a:t>Source: reproducible baseline evaluation in this repository</a:t>
            </a:r>
          </a:p>
        </p:txBody>
      </p:sp>
    </p:spTree>
    <p:extLst>
      <p:ext uri="{BB962C8B-B14F-4D97-AF65-F5344CB8AC3E}">
        <p14:creationId xmlns:p14="http://schemas.microsoft.com/office/powerpoint/2010/main" val="1688230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52FD1-98B5-44FD-B7E8-0524892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Doctor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3980E-5624-4743-954F-FEA76BF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B1855-7C04-4AF2-B0D6-1B0D34E3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91F11-6443-417A-88E2-E650B38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74295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B4D7A-F408-4963-A089-09429B9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B2821"/>
                </a:solidFill>
              </a:defRPr>
            </a:pPr>
            <a:r>
              <a:rPr sz="1950" b="1">
                <a:solidFill>
                  <a:srgbClr val="0B2821"/>
                </a:solidFill>
              </a:rPr>
              <a:t>Virtual Patient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AE53C-C5BB-45AC-8567-F3E1159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336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B8E69"/>
                </a:solidFill>
              </a:defRPr>
            </a:pPr>
            <a:r>
              <a:rPr sz="900" b="1">
                <a:solidFill>
                  <a:srgbClr val="0B8E69"/>
                </a:solidFill>
              </a:rPr>
              <a:t>SYNTHETIC DEMONSTRATION PATIENT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EF62-80E4-4C8C-A0E0-2C5ED172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7AE26-F1AA-45CE-A0C6-99E14C5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0B2821"/>
                </a:solidFill>
              </a:defRPr>
            </a:pPr>
            <a:r>
              <a:rPr sz="3900" b="1">
                <a:solidFill>
                  <a:srgbClr val="0B2821"/>
                </a:solidFill>
              </a:rPr>
              <a:t>142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49CBE-1971-4C49-9D1A-F594C76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07A72"/>
                </a:solidFill>
              </a:defRPr>
            </a:pPr>
            <a:r>
              <a:rPr sz="1125" b="0">
                <a:solidFill>
                  <a:srgbClr val="607A72"/>
                </a:solidFill>
              </a:rPr>
              <a:t>mg/dL current glucose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5076A-AD3E-419F-9F1E-67B59A0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900" b="1">
                <a:solidFill>
                  <a:srgbClr val="F1B868"/>
                </a:solidFill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F1B868"/>
                </a:solidFill>
              </a:defRPr>
            </a:pPr>
            <a:r>
              <a:rPr sz="3900" b="1">
                <a:solidFill>
                  <a:srgbClr val="F1B868"/>
                </a:solidFill>
              </a:rPr>
              <a:t>0.36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B314B-A019-41E9-83AB-6DA55F5D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00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0B2821"/>
                </a:solidFill>
              </a:defRPr>
            </a:pPr>
            <a:r>
              <a:rPr sz="1125" b="1">
                <a:solidFill>
                  <a:srgbClr val="0B2821"/>
                </a:solidFill>
              </a:rPr>
              <a:t>uncalibrated model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CF0F6-EF48-4829-9AEC-815CE8E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07A72"/>
                </a:solidFill>
              </a:defRPr>
            </a:pPr>
            <a:r>
              <a:rPr sz="1125" b="1">
                <a:solidFill>
                  <a:srgbClr val="607A72"/>
                </a:solidFill>
              </a:rPr>
              <a:t>CGM timeline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4B876-F823-435B-B8AD-98B91664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78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226A3-9AB4-47D8-B0D2-CB18F20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40E47-9DFE-49FD-B82A-A1FCF6F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018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4AA4B-0ABD-41FB-8B09-4EC9189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2185B-4BF2-4DD9-AD04-95C606CB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5065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7B876-26AF-4FDA-B703-ED36B227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1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D7FD2-25D1-4A66-8866-F65194F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3159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2A75E-CE5E-4E59-A572-914CA86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720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E75A7-D965-4933-AB1C-CC52B45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E69"/>
          </a:solidFill>
          <a:ln xmlns:a="http://schemas.openxmlformats.org/drawingml/2006/main" w="0">
            <a:solidFill>
              <a:srgbClr val="0B8E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C09D6-3A36-4837-BD4B-8F351A3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2821"/>
                </a:solidFill>
              </a:defRPr>
            </a:pPr>
            <a:r>
              <a:rPr sz="1800" b="1">
                <a:solidFill>
                  <a:srgbClr val="0B2821"/>
                </a:solidFill>
              </a:rPr>
              <a:t>The working React screen shows the same values through the live Spring Boot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CA9B0-5E18-43C1-82B7-209AA5C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202D1-8BBC-4AA0-882F-EBCA0317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score caveat is written explicitly and does not rely on colour.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CA562-040F-4312-A206-0B52EB90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91CEC-BAC5-40D6-A82B-89009DE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Model factors describe influence, not clinical cause.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1658C-C781-4D6A-AEA9-7359DD7E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0419D-3B62-4ABF-80BF-949FFEE9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Unavailable services never produce a fake score.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FB2ED2-96D0-437D-B18A-F85F49D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B8E69"/>
                </a:solidFill>
              </a:defRPr>
            </a:pPr>
            <a:r>
              <a:rPr sz="975" b="1">
                <a:solidFill>
                  <a:srgbClr val="0B8E69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3F828-51DB-4B33-B65B-5B190A0A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07A72"/>
                </a:solidFill>
              </a:defRPr>
            </a:pPr>
            <a:r>
              <a:rPr sz="1200" b="0">
                <a:solidFill>
                  <a:srgbClr val="607A72"/>
                </a:solidFill>
              </a:rPr>
              <a:t>The synthetic and research-only labels stay visible.</a:t>
            </a:r>
          </a:p>
        </p:txBody>
      </p:sp>
    </p:spTree>
    <p:extLst>
      <p:ext uri="{BB962C8B-B14F-4D97-AF65-F5344CB8AC3E}">
        <p14:creationId xmlns:p14="http://schemas.microsoft.com/office/powerpoint/2010/main" val="1378267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4B602-A234-43A1-BB24-BA8F312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Privacy, safety and responsible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CE6FB-2DA0-44FD-B4E7-8BFD25AB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3E7BB-5E99-4EC7-A7CE-523A2E75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C8152-5152-4DBE-8086-C63BF183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PUBLIC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56E6-E51A-46B7-A9C9-3C115289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B2821"/>
                </a:solidFill>
              </a:defRPr>
            </a:pPr>
            <a:r>
              <a:rPr sz="2550" b="1">
                <a:solidFill>
                  <a:srgbClr val="0B2821"/>
                </a:solidFill>
              </a:rPr>
              <a:t>One fully synthetic patient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E552-E9B6-482F-86C2-E5F4194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The repository includes a generated profile and simulated CGM. It contains no identifiable patient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9C769-7DC7-4315-8104-43D55EC0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D8E11-61CC-446C-AD35-7A183EA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RESEARCH TRAINING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EF8B6-97AB-4796-A63B-3EC9634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B2821"/>
                </a:solidFill>
              </a:defRPr>
            </a:pPr>
            <a:r>
              <a:rPr sz="2550" b="1">
                <a:solidFill>
                  <a:srgbClr val="0B2821"/>
                </a:solidFill>
              </a:rPr>
              <a:t>Raw patient-level files stay outside 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F83CB-CD98-47EE-922A-872423B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07A72"/>
                </a:solidFill>
              </a:defRPr>
            </a:pPr>
            <a:r>
              <a:rPr sz="1575" b="0">
                <a:solidFill>
                  <a:srgbClr val="607A72"/>
                </a:solidFill>
              </a:rPr>
              <a:t>The committed artifact contains only fitted coefficients and aggregate metadata. Source data terms remain separate from the MIT code licence.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E1198-2596-4F64-A3D4-683582F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E87868"/>
                </a:solidFill>
              </a:defRPr>
            </a:pPr>
            <a:r>
              <a:rPr sz="1425" b="1">
                <a:solidFill>
                  <a:srgbClr val="E87868"/>
                </a:solidFill>
              </a:rPr>
              <a:t>Not clinically validated - Not for diagnosis, treatment, dosing or emergency decisions</a:t>
            </a:r>
          </a:p>
        </p:txBody>
      </p:sp>
    </p:spTree>
    <p:extLst>
      <p:ext uri="{BB962C8B-B14F-4D97-AF65-F5344CB8AC3E}">
        <p14:creationId xmlns:p14="http://schemas.microsoft.com/office/powerpoint/2010/main" val="1370635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570EF-D3DF-4CD5-8C88-10C0324D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2821"/>
                </a:solidFill>
              </a:defRPr>
            </a:pPr>
            <a:r>
              <a:rPr sz="2400" b="1">
                <a:solidFill>
                  <a:srgbClr val="0B2821"/>
                </a:solidFill>
              </a:rPr>
              <a:t>Demonstration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13F9A-9971-461A-9211-2767908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A"/>
          </a:solidFill>
          <a:ln xmlns:a="http://schemas.openxmlformats.org/drawingml/2006/main" w="0">
            <a:solidFill>
              <a:srgbClr val="CFE0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ED413-57A5-481D-A47C-D8DD310D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607A72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607A72"/>
                </a:solidFill>
              </a:defRPr>
            </a:pPr>
            <a:r>
              <a:rPr sz="975" b="1">
                <a:solidFill>
                  <a:srgbClr val="607A7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4DCE8-6D2A-4E2C-8E59-4703F74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8E69"/>
                </a:solidFill>
              </a:defRPr>
            </a:pPr>
            <a:r>
              <a:rPr sz="1050" b="1">
                <a:solidFill>
                  <a:srgbClr val="0B8E69"/>
                </a:solidFill>
              </a:rPr>
              <a:t>RUN THE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D7334-0C62-4BCB-8CBA-1DF0A19E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0D255-AC83-4E14-8DF8-DAEF960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Start Docker 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07FF4-D755-4091-8236-56FE9A2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2C33-2B53-4155-9CDF-C643ADD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81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Open localhost:3000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11520-819F-4FB1-9F20-321DD64B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08367-7A0A-46F8-9FBA-54B9BBA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62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Refresh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705EA-3428-432D-90B4-2D44C52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B8E69"/>
                </a:solidFill>
              </a:defRPr>
            </a:pPr>
            <a:r>
              <a:rPr sz="2100" b="1">
                <a:solidFill>
                  <a:srgbClr val="0B8E69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AA407-8113-4828-9246-0A6887C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821"/>
                </a:solidFill>
              </a:defRPr>
            </a:pPr>
            <a:r>
              <a:rPr sz="1725" b="1">
                <a:solidFill>
                  <a:srgbClr val="0B2821"/>
                </a:solidFill>
              </a:rPr>
              <a:t>Watch simulated CGM update the 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493B8-D527-419C-9D5A-8465F0E1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F67CC-6AA7-4CB5-9930-88712541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E87868"/>
                </a:solidFill>
              </a:defRPr>
            </a:pPr>
            <a:r>
              <a:rPr sz="1050" b="1">
                <a:solidFill>
                  <a:srgbClr val="E87868"/>
                </a:solidFill>
              </a:rPr>
              <a:t>REMAINING TEAM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6A9D1-8A44-4B24-B144-8ED872B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383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87868"/>
                </a:solidFill>
              </a:defRPr>
            </a:pPr>
            <a:r>
              <a:rPr sz="750" b="1">
                <a:solidFill>
                  <a:srgbClr val="E87868"/>
                </a:solidFill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86BE2-C6D2-41DD-A2D5-F734785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81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Add the official team and college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0B394-84DF-44CE-B138-E9218119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87868"/>
                </a:solidFill>
              </a:defRPr>
            </a:pPr>
            <a:r>
              <a:rPr sz="750" b="1">
                <a:solidFill>
                  <a:srgbClr val="E87868"/>
                </a:solidFill>
              </a:rPr>
              <a:t>OPEN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0FFE2-9883-40A3-A459-644C03F3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Record and link the 20-minute demo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6020B-2824-470C-9BFC-A7156FA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87868"/>
                </a:solidFill>
              </a:defRPr>
            </a:pPr>
            <a:r>
              <a:rPr sz="750" b="1">
                <a:solidFill>
                  <a:srgbClr val="E87868"/>
                </a:solidFill>
              </a:rPr>
              <a:t>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1C099-9AEB-42E1-B660-CB1516D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Complete the clinical language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8391C-C264-4C48-BA88-D372A3BB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243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E87868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E87868"/>
                </a:solidFill>
              </a:defRPr>
            </a:pPr>
            <a:r>
              <a:rPr sz="750" b="1">
                <a:solidFill>
                  <a:srgbClr val="E87868"/>
                </a:solidFill>
              </a:rPr>
              <a:t>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FF92B-01C2-405E-A889-E4DEC04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0B282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B2821"/>
                </a:solidFill>
              </a:defRPr>
            </a:pPr>
            <a:r>
              <a:rPr sz="1575" b="0">
                <a:solidFill>
                  <a:srgbClr val="0B2821"/>
                </a:solidFill>
              </a:rPr>
              <a:t>Run the full Docker stack from a clean computer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8F581-AA5E-430F-BAEF-B06FECE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B8E69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8E69"/>
                </a:solidFill>
              </a:defRPr>
            </a:pPr>
            <a:r>
              <a:rPr sz="1200" b="1">
                <a:solidFill>
                  <a:srgbClr val="0B8E69"/>
                </a:solidFill>
              </a:rPr>
              <a:t>Component tests pass. Team identity, clinical sign-off, video and clean-computer Docker verification remain.</a:t>
            </a:r>
          </a:p>
        </p:txBody>
      </p:sp>
    </p:spTree>
    <p:extLst>
      <p:ext uri="{BB962C8B-B14F-4D97-AF65-F5344CB8AC3E}">
        <p14:creationId xmlns:p14="http://schemas.microsoft.com/office/powerpoint/2010/main" val="1805904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2026-10-10T04:41:40.7380000Z</dcterms:created>
  <dcterms:modified xsi:type="dcterms:W3CDTF">2026-10-10T04:41:40.7390000Z</dcterms:modified>
</coreProperties>
</file>